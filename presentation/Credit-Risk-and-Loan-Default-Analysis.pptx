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Adrian Gamez Saucedo" userId="fbd586433334d026" providerId="LiveId" clId="{DF63AB75-10D6-4561-A294-E123949CBD65}"/>
    <pc:docChg chg="undo custSel modSld">
      <pc:chgData name="Luis Adrian Gamez Saucedo" userId="fbd586433334d026" providerId="LiveId" clId="{DF63AB75-10D6-4561-A294-E123949CBD65}" dt="2026-08-17T20:29:29.647" v="9" actId="14100"/>
      <pc:docMkLst>
        <pc:docMk/>
      </pc:docMkLst>
      <pc:sldChg chg="delSp modSp mod">
        <pc:chgData name="Luis Adrian Gamez Saucedo" userId="fbd586433334d026" providerId="LiveId" clId="{DF63AB75-10D6-4561-A294-E123949CBD65}" dt="2026-08-17T20:29:29.647" v="9" actId="14100"/>
        <pc:sldMkLst>
          <pc:docMk/>
          <pc:sldMk cId="0" sldId="264"/>
        </pc:sldMkLst>
        <pc:spChg chg="del">
          <ac:chgData name="Luis Adrian Gamez Saucedo" userId="fbd586433334d026" providerId="LiveId" clId="{DF63AB75-10D6-4561-A294-E123949CBD65}" dt="2026-08-17T20:28:54.659" v="3" actId="478"/>
          <ac:spMkLst>
            <pc:docMk/>
            <pc:sldMk cId="0" sldId="264"/>
            <ac:spMk id="5" creationId="{00000000-0000-0000-0000-000000000000}"/>
          </ac:spMkLst>
        </pc:spChg>
        <pc:picChg chg="mod ord">
          <ac:chgData name="Luis Adrian Gamez Saucedo" userId="fbd586433334d026" providerId="LiveId" clId="{DF63AB75-10D6-4561-A294-E123949CBD65}" dt="2026-08-17T20:29:29.647" v="9" actId="14100"/>
          <ac:picMkLst>
            <pc:docMk/>
            <pc:sldMk cId="0" sldId="264"/>
            <ac:picMk id="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84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159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Credit Risk &amp; Loan Default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14489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Portfolio Risk Analysis &amp; Multivariable Segmentation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SQL · Google BigQuery · Power BI · DAX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2162"/>
            <a:ext cx="1184523" cy="195114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73137" y="430634"/>
            <a:ext cx="1487686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33785"/>
            <a:ext cx="8151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Which Borrower Characteristics Are Most Associated With Default?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716063"/>
            <a:ext cx="391916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Financial institutions must balance portfolio growth with borrower default risk. This analysis identifies historical risk patterns to support credit-risk monitoring and lending-policy discussions.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6119" y="2630760"/>
            <a:ext cx="3919165" cy="861492"/>
          </a:xfrm>
          <a:prstGeom prst="roundRect">
            <a:avLst>
              <a:gd name="adj" fmla="val 2237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7" y="2809652"/>
            <a:ext cx="160586" cy="1284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3581" y="2767608"/>
            <a:ext cx="33732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objective is not to automatically approve or reject borrowers — but to identify historical risk patterns that inform credit-risk discussions.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1624" y="1746200"/>
            <a:ext cx="192658" cy="1926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50941" y="1742256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Understand Portfolio Default Behavior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1624" y="2368376"/>
            <a:ext cx="192658" cy="1926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0941" y="2364432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Identify Meaningful Risk Patterns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1624" y="2990552"/>
            <a:ext cx="192658" cy="1926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50941" y="2986608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Evaluate Borrower &amp; Loan Characteristics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1624" y="3612728"/>
            <a:ext cx="192658" cy="1926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50941" y="3608784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Segment Higher-Risk Borrower Profiles</a:t>
            </a:r>
            <a:endParaRPr lang="en-US" sz="12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1624" y="4234904"/>
            <a:ext cx="192658" cy="19265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50941" y="4230960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Translate Findings Into Decision Support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999"/>
            <a:ext cx="1045592" cy="141387"/>
          </a:xfrm>
          <a:prstGeom prst="roundRect">
            <a:avLst>
              <a:gd name="adj" fmla="val 7896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51929" y="424904"/>
            <a:ext cx="1391171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ANALYTICAL WORKFLOW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62794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From Raw Data to Decision Support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945059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77016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Deliver Insights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96316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Analyze Risk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16430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Clean &amp; Validate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35730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Ingest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99967"/>
            <a:ext cx="8151763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 analytical dataset: </a:t>
            </a: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32,409 loan records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Data quality work included type validation, duplicate analysis, missing-value assessment, unrealistic-value detection, and outlier validation.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52301"/>
            <a:ext cx="1439094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81174" y="594792"/>
            <a:ext cx="172618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PORTFOLIO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2435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Portfolio Risk at a Glance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5507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32,409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496119" y="219573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Loans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72433" y="15507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$310.9M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272433" y="219573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Total Exposure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155078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7,088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219573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Defaulted Loans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84238" y="277155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21.87%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1884238" y="341649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Default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0553" y="2771552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$76.9M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4660553" y="341649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Default Exposure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96119" y="3797424"/>
            <a:ext cx="8151763" cy="793775"/>
          </a:xfrm>
          <a:prstGeom prst="roundRect">
            <a:avLst>
              <a:gd name="adj" fmla="val 2679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98193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974604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portfolio shows substantial variation in historical default behavior across borrower and loan characteristics, creating clear opportunities for risk segmentation.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3744"/>
            <a:ext cx="1351806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81174" y="586234"/>
            <a:ext cx="163889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SEGMENTATION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58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Loan Grade Reveals a Clear Risk Gradient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30859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1314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1976363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Observed default behavior deteriorates substantially as Loan Grade moves from A toward G. The most pronounced shift occurs between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Grade C (20.76%)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Grade D (59.05%)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nearly a 3× increase in observed default rate.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49701" y="3269903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484959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0398" y="3432870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Loan Grade provides strong segmentation of historical default behavior, but it should not be evaluated independently.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664"/>
            <a:ext cx="1246063" cy="198462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74477" y="443805"/>
            <a:ext cx="1546547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SEGMENTATION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272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Income Burden Identifies Another Major Risk Pattern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4226"/>
            <a:ext cx="3916487" cy="281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6157" y="1769194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36157" y="2093788"/>
            <a:ext cx="391648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Observed default increases substantially when the loan represents more than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23% of borrower income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Q4 borrowers show a default rate of </a:t>
            </a:r>
            <a:r>
              <a:rPr lang="en-US" sz="1000" b="1" dirty="0">
                <a:solidFill>
                  <a:srgbClr val="D0021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46.73%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nearly 4× higher than Q1 at </a:t>
            </a:r>
            <a:r>
              <a:rPr lang="en-US" sz="10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11.59%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36157" y="3032671"/>
            <a:ext cx="3916487" cy="884709"/>
          </a:xfrm>
          <a:prstGeom prst="roundRect">
            <a:avLst>
              <a:gd name="adj" fmla="val 2216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829" y="3219078"/>
            <a:ext cx="163339" cy="1306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0838" y="3173760"/>
            <a:ext cx="3361134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Income Burden provides meaningful additional information about borrower repayment risk and should be considered together with credit quality.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664"/>
            <a:ext cx="1521842" cy="198462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74477" y="443805"/>
            <a:ext cx="1822326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MULTIVARIABLE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51272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Strongest Insight: Risk Factors Should Not Be Analyzed in Isolation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84226"/>
            <a:ext cx="3916487" cy="281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6157" y="1769194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36157" y="2093788"/>
            <a:ext cx="391648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Even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Grade A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borrowers show substantial deterioration when Income Burden reaches Q4 — rising from </a:t>
            </a: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3.81%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</a:t>
            </a:r>
            <a:r>
              <a:rPr lang="en-US" sz="1000" dirty="0">
                <a:solidFill>
                  <a:srgbClr val="D0021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34.50%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Grade G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ranges from 80% to 100% depending on Income Burden.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36157" y="3032671"/>
            <a:ext cx="3916487" cy="1085552"/>
          </a:xfrm>
          <a:prstGeom prst="roundRect">
            <a:avLst>
              <a:gd name="adj" fmla="val 1806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829" y="3219078"/>
            <a:ext cx="163339" cy="1306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0838" y="3173760"/>
            <a:ext cx="336113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Loan Grade and Income Burden provide a more informative risk profile when evaluated together — revealing risk concentrations invisible in isolated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2094"/>
            <a:ext cx="1228427" cy="201885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75816" y="481905"/>
            <a:ext cx="1526232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BUSINESS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93762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Loan Purpose Adds Business Context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6043"/>
            <a:ext cx="3913808" cy="2817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8836" y="1420490"/>
            <a:ext cx="391380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38836" y="1752749"/>
            <a:ext cx="3913808" cy="155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spcAft>
                <a:spcPts val="850"/>
              </a:spcAft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Debt Consolidation shows the highest observed default rate at approximately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28%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However, a higher historical default rate does </a:t>
            </a:r>
            <a:r>
              <a:rPr lang="en-US" sz="10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automatically mean a lending product should be eliminated.</a:t>
            </a:r>
            <a:endParaRPr lang="en-US" sz="10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Loan Purpose should be considered together with Loan Grade, Income Burden, borrower characteristics, and credit history.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38836" y="3446785"/>
            <a:ext cx="3913808" cy="1114425"/>
          </a:xfrm>
          <a:prstGeom prst="roundRect">
            <a:avLst>
              <a:gd name="adj" fmla="val 1789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740" y="3635871"/>
            <a:ext cx="166092" cy="132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70736" y="3592041"/>
            <a:ext cx="3349005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Higher observed default should trigger deeper analysis — not an automatic product restriction. Profitability, expected losses, recoveries, and collateral must also be evaluated.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204" y="917675"/>
            <a:ext cx="5833516" cy="308156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96119" y="436736"/>
            <a:ext cx="575890" cy="141387"/>
          </a:xfrm>
          <a:prstGeom prst="roundRect">
            <a:avLst>
              <a:gd name="adj" fmla="val 7896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51929" y="464641"/>
            <a:ext cx="921469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DASHBOARD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602531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Interactive Credit Risk Dashboard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36" y="1073348"/>
            <a:ext cx="116235" cy="930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8388" y="1069032"/>
            <a:ext cx="8213675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96119" y="4092253"/>
            <a:ext cx="2676525" cy="614437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589136" y="4185270"/>
            <a:ext cx="249049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Executive KPIs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89136" y="4367213"/>
            <a:ext cx="249049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Loans · Total Exposure · Default Exposure · Defaulted Loans · Default Rate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3233663" y="4092253"/>
            <a:ext cx="2676599" cy="614437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9"/>
          <p:cNvSpPr/>
          <p:nvPr/>
        </p:nvSpPr>
        <p:spPr>
          <a:xfrm>
            <a:off x="3326681" y="4185270"/>
            <a:ext cx="249056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Analytical Views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326681" y="4367213"/>
            <a:ext cx="249056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Default Rate by Loan Grade · Loan Purpose · Income Burden · Grade × Income Burden Risk Matrix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5971282" y="4092253"/>
            <a:ext cx="2676525" cy="614437"/>
          </a:xfrm>
          <a:prstGeom prst="roundRect">
            <a:avLst>
              <a:gd name="adj" fmla="val 227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6064300" y="4185270"/>
            <a:ext cx="249049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Dynamic Filters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64300" y="4367213"/>
            <a:ext cx="2490490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Interactive filtering by Loan Grade, Loan Purpose, and Income Burden for ad-hoc segmentation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6250"/>
            <a:ext cx="716087" cy="201885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75816" y="516062"/>
            <a:ext cx="1013892" cy="12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27918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Findings &amp; Strategic Implications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6119" y="1470199"/>
            <a:ext cx="3913808" cy="1038597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3310" y="1617390"/>
            <a:ext cx="361942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Loan Grade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3310" y="1949648"/>
            <a:ext cx="361942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Strongest single segmentation factor — but must be evaluated alongside Income Burden.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6119" y="2633365"/>
            <a:ext cx="3913808" cy="1038597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3310" y="2780556"/>
            <a:ext cx="361942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Income Burden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3310" y="3112815"/>
            <a:ext cx="361942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Q4 (&gt;23%) shows substantially higher observed default, including a sharp increase among Grade A borrowers.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8836" y="1470199"/>
            <a:ext cx="3913808" cy="1038597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886027" y="1617390"/>
            <a:ext cx="361942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Multivariable Segmentation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86027" y="1949648"/>
            <a:ext cx="361942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Grade × Income Burden reveals risk concentrations invisible in isolated analysis.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8836" y="2633365"/>
            <a:ext cx="3913808" cy="1038597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886027" y="2780556"/>
            <a:ext cx="361942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Loan Purpose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86027" y="3112815"/>
            <a:ext cx="361942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Debt Consolidation shows highest observed default (~28%), but requires broader financial context.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119" y="3952205"/>
            <a:ext cx="8151763" cy="714970"/>
          </a:xfrm>
          <a:prstGeom prst="roundRect">
            <a:avLst>
              <a:gd name="adj" fmla="val 2788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2" y="4131766"/>
            <a:ext cx="166092" cy="13290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28018" y="4109963"/>
            <a:ext cx="758696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Implication:</a:t>
            </a:r>
            <a:r>
              <a:rPr 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Multivariable risk segmentation supports more informed credit-risk monitoring and lending-policy discussions.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Microsoft Office PowerPoint</Application>
  <PresentationFormat>Presentación en pantalla (16:9)</PresentationFormat>
  <Paragraphs>82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Inter Medium</vt:lpstr>
      <vt:lpstr>Arial</vt:lpstr>
      <vt:lpstr>Inter Bold</vt:lpstr>
      <vt:lpstr>DM Sans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Luis Adrian Gamez Saucedo</cp:lastModifiedBy>
  <cp:revision>1</cp:revision>
  <dcterms:created xsi:type="dcterms:W3CDTF">2026-08-17T20:27:53Z</dcterms:created>
  <dcterms:modified xsi:type="dcterms:W3CDTF">2026-08-17T20:29:37Z</dcterms:modified>
</cp:coreProperties>
</file>